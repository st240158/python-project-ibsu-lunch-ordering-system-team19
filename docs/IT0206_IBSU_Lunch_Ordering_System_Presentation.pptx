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80160"/>
            <a:ext cx="1097280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100" b="1"/>
            </a:pPr>
            <a:r>
              <a:t>IBSU LUNCH ORDERING SYSTEM</a:t>
            </a:r>
          </a:p>
          <a:p>
            <a:pPr algn="ctr">
              <a:defRPr sz="1800"/>
            </a:pPr>
            <a:r>
              <a:t>IT0206 Advanced Computer Programming 2 • Assessment 2</a:t>
            </a:r>
          </a:p>
          <a:p>
            <a:pPr algn="ctr">
              <a:defRPr sz="1500"/>
            </a:pPr>
            <a:r>
              <a:t>Gunther Darius — ST240158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Problem, Aim and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Problem: manual cafeteria ordering can make menu, stock and order tracking inefficient.</a:t>
            </a:r>
          </a:p>
          <a:p>
            <a:pPr>
              <a:spcAft>
                <a:spcPts val="900"/>
              </a:spcAft>
              <a:defRPr sz="1800"/>
            </a:pPr>
            <a:r>
              <a:t>Aim: deliver a persistent, role-based Python lunch-ordering application.</a:t>
            </a:r>
          </a:p>
          <a:p>
            <a:pPr>
              <a:spcAft>
                <a:spcPts val="900"/>
              </a:spcAft>
              <a:defRPr sz="1800"/>
            </a:pPr>
            <a:r>
              <a:t>Objectives: authentication, roles, CRUD, transactional ordering, search, reporting, file handling, logging and testing.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Requirements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Menu-driven console application with authenticated role-based access.</a:t>
            </a:r>
          </a:p>
          <a:p>
            <a:pPr>
              <a:spcAft>
                <a:spcPts val="900"/>
              </a:spcAft>
              <a:defRPr sz="1800"/>
            </a:pPr>
            <a:r>
              <a:t>SQLite persistence with six related tables.</a:t>
            </a:r>
          </a:p>
          <a:p>
            <a:pPr>
              <a:spcAft>
                <a:spcPts val="900"/>
              </a:spcAft>
              <a:defRPr sz="1800"/>
            </a:pPr>
            <a:r>
              <a:t>Core workflow: menu management → order → status → reporting.</a:t>
            </a:r>
          </a:p>
          <a:p>
            <a:pPr>
              <a:spcAft>
                <a:spcPts val="900"/>
              </a:spcAft>
              <a:defRPr sz="1800"/>
            </a:pPr>
            <a:r>
              <a:t>Out of scope: online payments, mobile app and cloud production deployment.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Python 3.11+ • SQLite • pytest • pytest-cov</a:t>
            </a:r>
          </a:p>
          <a:p>
            <a:pPr>
              <a:spcAft>
                <a:spcPts val="900"/>
              </a:spcAft>
              <a:defRPr sz="1800"/>
            </a:pPr>
            <a:r>
              <a:t>pandas for data processing and reporting</a:t>
            </a:r>
          </a:p>
          <a:p>
            <a:pPr>
              <a:spcAft>
                <a:spcPts val="900"/>
              </a:spcAft>
              <a:defRPr sz="1800"/>
            </a:pPr>
            <a:r>
              <a:t>matplotlib for user-facing visualisation</a:t>
            </a:r>
          </a:p>
          <a:p>
            <a:pPr>
              <a:spcAft>
                <a:spcPts val="900"/>
              </a:spcAft>
              <a:defRPr sz="1800"/>
            </a:pPr>
            <a:r>
              <a:t>requests for a genuine external HTTP interaction</a:t>
            </a:r>
          </a:p>
          <a:p>
            <a:pPr>
              <a:spcAft>
                <a:spcPts val="900"/>
              </a:spcAft>
              <a:defRPr sz="1800"/>
            </a:pPr>
            <a:r>
              <a:t>tabulate for console presentation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MVC Architecture</a:t>
            </a:r>
          </a:p>
        </p:txBody>
      </p:sp>
      <p:pic>
        <p:nvPicPr>
          <p:cNvPr id="3" name="Picture 2" descr="m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212080" cy="7069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View → Controller → Service/Model → Repository → SQLite</a:t>
            </a:r>
          </a:p>
          <a:p>
            <a:pPr>
              <a:spcAft>
                <a:spcPts val="900"/>
              </a:spcAft>
              <a:defRPr sz="1800"/>
            </a:pPr>
            <a:r>
              <a:t>Views handle console I/O; controllers validate and orchestrate.</a:t>
            </a:r>
          </a:p>
          <a:p>
            <a:pPr>
              <a:spcAft>
                <a:spcPts val="900"/>
              </a:spcAft>
              <a:defRPr sz="1800"/>
            </a:pPr>
            <a:r>
              <a:t>Services handle authentication, files and reports.</a:t>
            </a:r>
          </a:p>
          <a:p>
            <a:pPr>
              <a:spcAft>
                <a:spcPts val="900"/>
              </a:spcAft>
              <a:defRPr sz="1800"/>
            </a:pPr>
            <a:r>
              <a:t>Repositories isolate SQL and transactions.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Object-Oriented Design</a:t>
            </a:r>
          </a:p>
        </p:txBody>
      </p:sp>
      <p:pic>
        <p:nvPicPr>
          <p:cNvPr id="3" name="Picture 2" descr="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212080" cy="23041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42 classes across models, repositories, services, controllers, views and exceptions.</a:t>
            </a:r>
          </a:p>
          <a:p>
            <a:pPr>
              <a:spcAft>
                <a:spcPts val="900"/>
              </a:spcAft>
              <a:defRPr sz="1800"/>
            </a:pPr>
            <a:r>
              <a:t>User is an abstract base class; Student and Administrator inherit from it.</a:t>
            </a:r>
          </a:p>
          <a:p>
            <a:pPr>
              <a:spcAft>
                <a:spcPts val="900"/>
              </a:spcAft>
              <a:defRPr sz="1800"/>
            </a:pPr>
            <a:r>
              <a:t>Polymorphism and overriding provide role-specific permissions.</a:t>
            </a:r>
          </a:p>
          <a:p>
            <a:pPr>
              <a:spcAft>
                <a:spcPts val="900"/>
              </a:spcAft>
              <a:defRPr sz="1800"/>
            </a:pPr>
            <a:r>
              <a:t>Order composes OrderItem objects; properties and dunder methods are demonstrated.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Database Design</a:t>
            </a:r>
          </a:p>
        </p:txBody>
      </p:sp>
      <p:pic>
        <p:nvPicPr>
          <p:cNvPr id="3" name="Picture 2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212080" cy="22468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users, category, food_items, orders, order_items, order_status</a:t>
            </a:r>
          </a:p>
          <a:p>
            <a:pPr>
              <a:spcAft>
                <a:spcPts val="900"/>
              </a:spcAft>
              <a:defRPr sz="1800"/>
            </a:pPr>
            <a:r>
              <a:t>Foreign keys enforce relationships and referential integrity.</a:t>
            </a:r>
          </a:p>
          <a:p>
            <a:pPr>
              <a:spcAft>
                <a:spcPts val="900"/>
              </a:spcAft>
              <a:defRPr sz="1800"/>
            </a:pPr>
            <a:r>
              <a:t>CRUD uses parameterised SQL.</a:t>
            </a:r>
          </a:p>
          <a:p>
            <a:pPr>
              <a:spcAft>
                <a:spcPts val="900"/>
              </a:spcAft>
              <a:defRPr sz="1800"/>
            </a:pPr>
            <a:r>
              <a:t>Order creation, cancellation and deletion use transactions.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7. Student Workflow</a:t>
            </a:r>
          </a:p>
        </p:txBody>
      </p:sp>
      <p:pic>
        <p:nvPicPr>
          <p:cNvPr id="3" name="Picture 2" descr="03_menu_and_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212080" cy="14767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Login as student / student123.</a:t>
            </a:r>
          </a:p>
          <a:p>
            <a:pPr>
              <a:spcAft>
                <a:spcPts val="900"/>
              </a:spcAft>
              <a:defRPr sz="1800"/>
            </a:pPr>
            <a:r>
              <a:t>Browse menu and check stock.</a:t>
            </a:r>
          </a:p>
          <a:p>
            <a:pPr>
              <a:spcAft>
                <a:spcPts val="900"/>
              </a:spcAft>
              <a:defRPr sz="1800"/>
            </a:pPr>
            <a:r>
              <a:t>Place an order and confirm total.</a:t>
            </a:r>
          </a:p>
          <a:p>
            <a:pPr>
              <a:spcAft>
                <a:spcPts val="900"/>
              </a:spcAft>
              <a:defRPr sz="1800"/>
            </a:pPr>
            <a:r>
              <a:t>View order history.</a:t>
            </a:r>
          </a:p>
          <a:p>
            <a:pPr>
              <a:spcAft>
                <a:spcPts val="900"/>
              </a:spcAft>
              <a:defRPr sz="1800"/>
            </a:pPr>
            <a:r>
              <a:t>Cancel Pending/Confirmed order and demonstrate stock restoration.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8. Administrator Workflow</a:t>
            </a:r>
          </a:p>
        </p:txBody>
      </p:sp>
      <p:pic>
        <p:nvPicPr>
          <p:cNvPr id="3" name="Picture 2" descr="04_admin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212080" cy="23454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Login as admin / admin123.</a:t>
            </a:r>
          </a:p>
          <a:p>
            <a:pPr>
              <a:spcAft>
                <a:spcPts val="900"/>
              </a:spcAft>
              <a:defRPr sz="1800"/>
            </a:pPr>
            <a:r>
              <a:t>Manage menu items and categories.</a:t>
            </a:r>
          </a:p>
          <a:p>
            <a:pPr>
              <a:spcAft>
                <a:spcPts val="900"/>
              </a:spcAft>
              <a:defRPr sz="1800"/>
            </a:pPr>
            <a:r>
              <a:t>View, update and delete orders.</a:t>
            </a:r>
          </a:p>
          <a:p>
            <a:pPr>
              <a:spcAft>
                <a:spcPts val="900"/>
              </a:spcAft>
              <a:defRPr sz="1800"/>
            </a:pPr>
            <a:r>
              <a:t>Generate reports, charts and exports.</a:t>
            </a:r>
          </a:p>
          <a:p>
            <a:pPr>
              <a:spcAft>
                <a:spcPts val="900"/>
              </a:spcAft>
              <a:defRPr sz="1800"/>
            </a:pPr>
            <a:r>
              <a:t>Demonstrate role-based access.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9. Reporting, Files and API</a:t>
            </a:r>
          </a:p>
        </p:txBody>
      </p:sp>
      <p:pic>
        <p:nvPicPr>
          <p:cNvPr id="3" name="Picture 2" descr="05_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212080" cy="20558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CSV/JSON import supports menu-data interoperability.</a:t>
            </a:r>
          </a:p>
          <a:p>
            <a:pPr>
              <a:spcAft>
                <a:spcPts val="900"/>
              </a:spcAft>
              <a:defRPr sz="1800"/>
            </a:pPr>
            <a:r>
              <a:t>TXT/CSV/JSON report exports are generated.</a:t>
            </a:r>
          </a:p>
          <a:p>
            <a:pPr>
              <a:spcAft>
                <a:spcPts val="900"/>
              </a:spcAft>
              <a:defRPr sz="1800"/>
            </a:pPr>
            <a:r>
              <a:t>pandas creates report DataFrames.</a:t>
            </a:r>
          </a:p>
          <a:p>
            <a:pPr>
              <a:spcAft>
                <a:spcPts val="900"/>
              </a:spcAft>
              <a:defRPr sz="1800"/>
            </a:pPr>
            <a:r>
              <a:t>matplotlib creates three report charts.</a:t>
            </a:r>
          </a:p>
          <a:p>
            <a:pPr>
              <a:spcAft>
                <a:spcPts val="900"/>
              </a:spcAft>
              <a:defRPr sz="1800"/>
            </a:pPr>
            <a:r>
              <a:t>requests fetches a daily quote with an offline fallback.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10. Testing</a:t>
            </a:r>
          </a:p>
        </p:txBody>
      </p:sp>
      <p:pic>
        <p:nvPicPr>
          <p:cNvPr id="3" name="Picture 2" descr="06_te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212080" cy="1094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160 automated tests passed with 0 failures.</a:t>
            </a:r>
          </a:p>
          <a:p>
            <a:pPr>
              <a:spcAft>
                <a:spcPts val="900"/>
              </a:spcAft>
              <a:defRPr sz="1800"/>
            </a:pPr>
            <a:r>
              <a:t>81% coverage across core models, repositories, services, utilities and exceptions.</a:t>
            </a:r>
          </a:p>
          <a:p>
            <a:pPr>
              <a:spcAft>
                <a:spcPts val="900"/>
              </a:spcAft>
              <a:defRPr sz="1800"/>
            </a:pPr>
            <a:r>
              <a:t>Negative-path tests cover invalid input, missing records, stock limits and invalid states.</a:t>
            </a:r>
          </a:p>
          <a:p>
            <a:pPr>
              <a:spcAft>
                <a:spcPts val="900"/>
              </a:spcAft>
              <a:defRPr sz="1800"/>
            </a:pPr>
            <a:r>
              <a:t>Manual end-to-end tests verify interactive workflows.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11. Professional and Ethical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Application-wide logging and custom exception hierarchy.</a:t>
            </a:r>
          </a:p>
          <a:p>
            <a:pPr>
              <a:spcAft>
                <a:spcPts val="900"/>
              </a:spcAft>
              <a:defRPr sz="1800"/>
            </a:pPr>
            <a:r>
              <a:t>Parameterised SQL and role-based permissions.</a:t>
            </a:r>
          </a:p>
          <a:p>
            <a:pPr>
              <a:spcAft>
                <a:spcPts val="900"/>
              </a:spcAft>
              <a:defRPr sz="1800"/>
            </a:pPr>
            <a:r>
              <a:t>Privacy and production password-hashing limitation documented.</a:t>
            </a:r>
          </a:p>
          <a:p>
            <a:pPr>
              <a:spcAft>
                <a:spcPts val="900"/>
              </a:spcAft>
              <a:defRPr sz="1800"/>
            </a:pPr>
            <a:r>
              <a:t>AI assistance disclosed transparently.</a:t>
            </a:r>
          </a:p>
          <a:p>
            <a:pPr>
              <a:spcAft>
                <a:spcPts val="900"/>
              </a:spcAft>
              <a:defRPr sz="1800"/>
            </a:pPr>
            <a:r>
              <a:t>UAT requires genuine tester sign-off before submission.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12. Fixes Completed During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Reconciled standalone schema.sql with the live application schema.</a:t>
            </a:r>
          </a:p>
          <a:p>
            <a:pPr>
              <a:spcAft>
                <a:spcPts val="900"/>
              </a:spcAft>
              <a:defRPr sz="1800"/>
            </a:pPr>
            <a:r>
              <a:t>Fixed runtime repository dependency wiring so cancellation restores stock.</a:t>
            </a:r>
          </a:p>
          <a:p>
            <a:pPr>
              <a:spcAft>
                <a:spcPts val="900"/>
              </a:spcAft>
              <a:defRPr sz="1800"/>
            </a:pPr>
            <a:r>
              <a:t>Corrected README/user-manual launch commands and paths.</a:t>
            </a:r>
          </a:p>
          <a:p>
            <a:pPr>
              <a:spcAft>
                <a:spcPts val="900"/>
              </a:spcAft>
              <a:defRPr sz="1800"/>
            </a:pPr>
            <a:r>
              <a:t>Added public-method docstrings and schema/validation regression tests.</a:t>
            </a:r>
          </a:p>
          <a:p>
            <a:pPr>
              <a:spcAft>
                <a:spcPts val="900"/>
              </a:spcAft>
              <a:defRPr sz="1800"/>
            </a:pPr>
            <a:r>
              <a:t>Added explicit order deletion for CRUD completeness.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13. Limitations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Use Argon2/bcrypt for production password storage.</a:t>
            </a:r>
          </a:p>
          <a:p>
            <a:pPr>
              <a:spcAft>
                <a:spcPts val="900"/>
              </a:spcAft>
              <a:defRPr sz="1800"/>
            </a:pPr>
            <a:r>
              <a:t>Build a GUI/web presentation layer while preserving MVC services/models.</a:t>
            </a:r>
          </a:p>
          <a:p>
            <a:pPr>
              <a:spcAft>
                <a:spcPts val="900"/>
              </a:spcAft>
              <a:defRPr sz="1800"/>
            </a:pPr>
            <a:r>
              <a:t>Add online payment and notifications.</a:t>
            </a:r>
          </a:p>
          <a:p>
            <a:pPr>
              <a:spcAft>
                <a:spcPts val="900"/>
              </a:spcAft>
              <a:defRPr sz="1800"/>
            </a:pPr>
            <a:r>
              <a:t>Consider cloud database/deployment and richer analytics.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14. Conclusion and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The system demonstrates delivery from requirements and design through implementation, database integration, testing, documentation and presentation.</a:t>
            </a:r>
          </a:p>
          <a:p>
            <a:pPr>
              <a:spcAft>
                <a:spcPts val="900"/>
              </a:spcAft>
              <a:defRPr sz="1800"/>
            </a:pPr>
            <a:r>
              <a:t>Core workflows are verified and the assessment package is prepared.</a:t>
            </a:r>
          </a:p>
          <a:p>
            <a:pPr>
              <a:spcAft>
                <a:spcPts val="900"/>
              </a:spcAft>
              <a:defRPr sz="1800"/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