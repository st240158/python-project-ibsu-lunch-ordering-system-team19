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29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nther Darius" userId="8d2b46eae991de6c" providerId="LiveId" clId="{A6C91EE9-2DD3-49A5-8165-D560F60A6B62}"/>
    <pc:docChg chg="custSel modSld">
      <pc:chgData name="Gunther Darius" userId="8d2b46eae991de6c" providerId="LiveId" clId="{A6C91EE9-2DD3-49A5-8165-D560F60A6B62}" dt="2026-09-23T23:10:28.145" v="38" actId="14100"/>
      <pc:docMkLst>
        <pc:docMk/>
      </pc:docMkLst>
      <pc:sldChg chg="modSp mod">
        <pc:chgData name="Gunther Darius" userId="8d2b46eae991de6c" providerId="LiveId" clId="{A6C91EE9-2DD3-49A5-8165-D560F60A6B62}" dt="2026-09-23T02:41:47.103" v="21" actId="20577"/>
        <pc:sldMkLst>
          <pc:docMk/>
          <pc:sldMk cId="0" sldId="256"/>
        </pc:sldMkLst>
        <pc:spChg chg="mod">
          <ac:chgData name="Gunther Darius" userId="8d2b46eae991de6c" providerId="LiveId" clId="{A6C91EE9-2DD3-49A5-8165-D560F60A6B62}" dt="2026-09-23T02:41:47.103" v="21" actId="20577"/>
          <ac:spMkLst>
            <pc:docMk/>
            <pc:sldMk cId="0" sldId="256"/>
            <ac:spMk id="2" creationId="{00000000-0000-0000-0000-000000000000}"/>
          </ac:spMkLst>
        </pc:spChg>
      </pc:sldChg>
      <pc:sldChg chg="modSp mod">
        <pc:chgData name="Gunther Darius" userId="8d2b46eae991de6c" providerId="LiveId" clId="{A6C91EE9-2DD3-49A5-8165-D560F60A6B62}" dt="2026-09-23T23:10:28.145" v="38" actId="14100"/>
        <pc:sldMkLst>
          <pc:docMk/>
          <pc:sldMk cId="0" sldId="260"/>
        </pc:sldMkLst>
        <pc:picChg chg="mod">
          <ac:chgData name="Gunther Darius" userId="8d2b46eae991de6c" providerId="LiveId" clId="{A6C91EE9-2DD3-49A5-8165-D560F60A6B62}" dt="2026-09-23T23:10:28.145" v="38" actId="14100"/>
          <ac:picMkLst>
            <pc:docMk/>
            <pc:sldMk cId="0" sldId="260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02:45:51.814" v="26" actId="14100"/>
        <pc:sldMkLst>
          <pc:docMk/>
          <pc:sldMk cId="0" sldId="261"/>
        </pc:sldMkLst>
        <pc:picChg chg="mod">
          <ac:chgData name="Gunther Darius" userId="8d2b46eae991de6c" providerId="LiveId" clId="{A6C91EE9-2DD3-49A5-8165-D560F60A6B62}" dt="2026-09-23T02:45:51.814" v="26" actId="14100"/>
          <ac:picMkLst>
            <pc:docMk/>
            <pc:sldMk cId="0" sldId="261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23:02:28.697" v="33" actId="14100"/>
        <pc:sldMkLst>
          <pc:docMk/>
          <pc:sldMk cId="0" sldId="262"/>
        </pc:sldMkLst>
        <pc:picChg chg="mod">
          <ac:chgData name="Gunther Darius" userId="8d2b46eae991de6c" providerId="LiveId" clId="{A6C91EE9-2DD3-49A5-8165-D560F60A6B62}" dt="2026-09-23T23:02:28.697" v="33" actId="14100"/>
          <ac:picMkLst>
            <pc:docMk/>
            <pc:sldMk cId="0" sldId="262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02:46:53.475" v="28" actId="14100"/>
        <pc:sldMkLst>
          <pc:docMk/>
          <pc:sldMk cId="0" sldId="263"/>
        </pc:sldMkLst>
        <pc:picChg chg="mod">
          <ac:chgData name="Gunther Darius" userId="8d2b46eae991de6c" providerId="LiveId" clId="{A6C91EE9-2DD3-49A5-8165-D560F60A6B62}" dt="2026-09-23T02:46:53.475" v="28" actId="14100"/>
          <ac:picMkLst>
            <pc:docMk/>
            <pc:sldMk cId="0" sldId="263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02:46:59.228" v="29" actId="1076"/>
        <pc:sldMkLst>
          <pc:docMk/>
          <pc:sldMk cId="0" sldId="264"/>
        </pc:sldMkLst>
        <pc:picChg chg="mod">
          <ac:chgData name="Gunther Darius" userId="8d2b46eae991de6c" providerId="LiveId" clId="{A6C91EE9-2DD3-49A5-8165-D560F60A6B62}" dt="2026-09-23T02:46:59.228" v="29" actId="1076"/>
          <ac:picMkLst>
            <pc:docMk/>
            <pc:sldMk cId="0" sldId="264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23:02:34.356" v="34" actId="14100"/>
        <pc:sldMkLst>
          <pc:docMk/>
          <pc:sldMk cId="0" sldId="265"/>
        </pc:sldMkLst>
        <pc:picChg chg="mod">
          <ac:chgData name="Gunther Darius" userId="8d2b46eae991de6c" providerId="LiveId" clId="{A6C91EE9-2DD3-49A5-8165-D560F60A6B62}" dt="2026-09-23T23:02:34.356" v="34" actId="14100"/>
          <ac:picMkLst>
            <pc:docMk/>
            <pc:sldMk cId="0" sldId="265"/>
            <ac:picMk id="3" creationId="{00000000-0000-0000-0000-000000000000}"/>
          </ac:picMkLst>
        </pc:picChg>
      </pc:sldChg>
      <pc:sldChg chg="modSp mod">
        <pc:chgData name="Gunther Darius" userId="8d2b46eae991de6c" providerId="LiveId" clId="{A6C91EE9-2DD3-49A5-8165-D560F60A6B62}" dt="2026-09-23T02:47:13.160" v="31" actId="14100"/>
        <pc:sldMkLst>
          <pc:docMk/>
          <pc:sldMk cId="0" sldId="266"/>
        </pc:sldMkLst>
        <pc:picChg chg="mod">
          <ac:chgData name="Gunther Darius" userId="8d2b46eae991de6c" providerId="LiveId" clId="{A6C91EE9-2DD3-49A5-8165-D560F60A6B62}" dt="2026-09-23T02:47:13.160" v="31" actId="14100"/>
          <ac:picMkLst>
            <pc:docMk/>
            <pc:sldMk cId="0" sldId="266"/>
            <ac:picMk id="3" creationId="{00000000-0000-0000-0000-000000000000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1455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906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93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1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49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2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0474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141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779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96541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75569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4393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2664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74618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06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9830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07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5BCAD085-E8A6-8845-BD4E-CB4CCA059FC4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41009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30" r:id="rId1"/>
    <p:sldLayoutId id="2147483931" r:id="rId2"/>
    <p:sldLayoutId id="2147483932" r:id="rId3"/>
    <p:sldLayoutId id="2147483933" r:id="rId4"/>
    <p:sldLayoutId id="2147483934" r:id="rId5"/>
    <p:sldLayoutId id="2147483935" r:id="rId6"/>
    <p:sldLayoutId id="2147483936" r:id="rId7"/>
    <p:sldLayoutId id="2147483937" r:id="rId8"/>
    <p:sldLayoutId id="2147483938" r:id="rId9"/>
    <p:sldLayoutId id="2147483939" r:id="rId10"/>
    <p:sldLayoutId id="2147483940" r:id="rId11"/>
    <p:sldLayoutId id="2147483941" r:id="rId12"/>
    <p:sldLayoutId id="2147483942" r:id="rId13"/>
    <p:sldLayoutId id="2147483943" r:id="rId14"/>
    <p:sldLayoutId id="2147483944" r:id="rId15"/>
    <p:sldLayoutId id="2147483945" r:id="rId16"/>
    <p:sldLayoutId id="2147483946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4pPr>
      <a:lvl5pPr marL="21145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50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114501" y="1280160"/>
            <a:ext cx="6023957" cy="163121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100" b="1"/>
            </a:pPr>
            <a:r>
              <a:rPr dirty="0"/>
              <a:t>IBSU LUNCH ORDERING SYSTEM</a:t>
            </a:r>
          </a:p>
          <a:p>
            <a:pPr algn="ctr">
              <a:defRPr sz="1800"/>
            </a:pPr>
            <a:r>
              <a:rPr dirty="0"/>
              <a:t>IT0206 Advanced Computer Programming 2</a:t>
            </a:r>
            <a:r>
              <a:rPr lang="en-US" dirty="0"/>
              <a:t>C</a:t>
            </a:r>
            <a:r>
              <a:rPr dirty="0"/>
              <a:t> • Assessment 2</a:t>
            </a:r>
            <a:r>
              <a:rPr lang="en-US" dirty="0"/>
              <a:t>C</a:t>
            </a:r>
          </a:p>
          <a:p>
            <a:pPr algn="ctr">
              <a:defRPr sz="1800"/>
            </a:pPr>
            <a:r>
              <a:rPr lang="en-US" dirty="0"/>
              <a:t>Team Members</a:t>
            </a:r>
          </a:p>
          <a:p>
            <a:pPr algn="ctr">
              <a:defRPr sz="1800"/>
            </a:pPr>
            <a:r>
              <a:rPr lang="en-US" dirty="0"/>
              <a:t>Johannesh Pesh -- ST240723</a:t>
            </a:r>
            <a:endParaRPr dirty="0"/>
          </a:p>
          <a:p>
            <a:pPr algn="ctr">
              <a:defRPr sz="1500"/>
            </a:pPr>
            <a:r>
              <a:rPr dirty="0"/>
              <a:t>Gunther Darius — ST240158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1. Problem, Aim and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Problem: manual cafeteria ordering can make menu, stock and order tracking inefficient.</a:t>
            </a:r>
          </a:p>
          <a:p>
            <a:pPr>
              <a:spcAft>
                <a:spcPts val="900"/>
              </a:spcAft>
              <a:defRPr sz="1800"/>
            </a:pPr>
            <a:r>
              <a:t>Aim: deliver a persistent, role-based Python lunch-ordering application.</a:t>
            </a:r>
          </a:p>
          <a:p>
            <a:pPr>
              <a:spcAft>
                <a:spcPts val="900"/>
              </a:spcAft>
              <a:defRPr sz="1800"/>
            </a:pPr>
            <a:r>
              <a:t>Objectives: authentication, roles, CRUD, transactional ordering, search, reporting, file handling, logging and testing.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2. Requirements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Menu-driven console application with authenticated role-based access.</a:t>
            </a:r>
          </a:p>
          <a:p>
            <a:pPr>
              <a:spcAft>
                <a:spcPts val="900"/>
              </a:spcAft>
              <a:defRPr sz="1800"/>
            </a:pPr>
            <a:r>
              <a:t>SQLite persistence with six related tables.</a:t>
            </a:r>
          </a:p>
          <a:p>
            <a:pPr>
              <a:spcAft>
                <a:spcPts val="900"/>
              </a:spcAft>
              <a:defRPr sz="1800"/>
            </a:pPr>
            <a:r>
              <a:t>Core workflow: menu management → order → status → reporting.</a:t>
            </a:r>
          </a:p>
          <a:p>
            <a:pPr>
              <a:spcAft>
                <a:spcPts val="900"/>
              </a:spcAft>
              <a:defRPr sz="1800"/>
            </a:pPr>
            <a:r>
              <a:t>Out of scope: online payments, mobile app and cloud production deployment.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3.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Python 3.11+ • SQLite • pytest • pytest-cov</a:t>
            </a:r>
          </a:p>
          <a:p>
            <a:pPr>
              <a:spcAft>
                <a:spcPts val="900"/>
              </a:spcAft>
              <a:defRPr sz="1800"/>
            </a:pPr>
            <a:r>
              <a:t>pandas for data processing and reporting</a:t>
            </a:r>
          </a:p>
          <a:p>
            <a:pPr>
              <a:spcAft>
                <a:spcPts val="900"/>
              </a:spcAft>
              <a:defRPr sz="1800"/>
            </a:pPr>
            <a:r>
              <a:t>matplotlib for user-facing visualisation</a:t>
            </a:r>
          </a:p>
          <a:p>
            <a:pPr>
              <a:spcAft>
                <a:spcPts val="900"/>
              </a:spcAft>
              <a:defRPr sz="1800"/>
            </a:pPr>
            <a:r>
              <a:t>requests for a genuine external HTTP interaction</a:t>
            </a:r>
          </a:p>
          <a:p>
            <a:pPr>
              <a:spcAft>
                <a:spcPts val="900"/>
              </a:spcAft>
              <a:defRPr sz="1800"/>
            </a:pPr>
            <a:r>
              <a:t>tabulate for console presentation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4. MVC Architecture</a:t>
            </a:r>
          </a:p>
        </p:txBody>
      </p:sp>
      <p:pic>
        <p:nvPicPr>
          <p:cNvPr id="3" name="Picture 2" descr="mv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925287"/>
            <a:ext cx="5715000" cy="299357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View → Controller → Service/Model → Repository → SQLite</a:t>
            </a:r>
          </a:p>
          <a:p>
            <a:pPr>
              <a:spcAft>
                <a:spcPts val="900"/>
              </a:spcAft>
              <a:defRPr sz="1800"/>
            </a:pPr>
            <a:r>
              <a:t>Views handle console I/O; controllers validate and orchestrate.</a:t>
            </a:r>
          </a:p>
          <a:p>
            <a:pPr>
              <a:spcAft>
                <a:spcPts val="900"/>
              </a:spcAft>
              <a:defRPr sz="1800"/>
            </a:pPr>
            <a:r>
              <a:t>Services handle authentication, files and reports.</a:t>
            </a:r>
          </a:p>
          <a:p>
            <a:pPr>
              <a:spcAft>
                <a:spcPts val="900"/>
              </a:spcAft>
              <a:defRPr sz="1800"/>
            </a:pPr>
            <a:r>
              <a:t>Repositories isolate SQL and transactions.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5. Object-Oriented Design</a:t>
            </a:r>
          </a:p>
        </p:txBody>
      </p:sp>
      <p:pic>
        <p:nvPicPr>
          <p:cNvPr id="3" name="Picture 2" descr="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936171"/>
            <a:ext cx="5212080" cy="246525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42 classes across models, repositories, services, controllers, views and exceptions.</a:t>
            </a:r>
          </a:p>
          <a:p>
            <a:pPr>
              <a:spcAft>
                <a:spcPts val="900"/>
              </a:spcAft>
              <a:defRPr sz="1800"/>
            </a:pPr>
            <a:r>
              <a:t>User is an abstract base class; Student and Administrator inherit from it.</a:t>
            </a:r>
          </a:p>
          <a:p>
            <a:pPr>
              <a:spcAft>
                <a:spcPts val="900"/>
              </a:spcAft>
              <a:defRPr sz="1800"/>
            </a:pPr>
            <a:r>
              <a:t>Polymorphism and overriding provide role-specific permissions.</a:t>
            </a:r>
          </a:p>
          <a:p>
            <a:pPr>
              <a:spcAft>
                <a:spcPts val="900"/>
              </a:spcAft>
              <a:defRPr sz="1800"/>
            </a:pPr>
            <a:r>
              <a:t>Order composes OrderItem objects; properties and dunder methods are demonstrated.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6. Database Design</a:t>
            </a:r>
          </a:p>
        </p:txBody>
      </p:sp>
      <p:pic>
        <p:nvPicPr>
          <p:cNvPr id="3" name="Picture 2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32134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users, category, food_items, orders, order_items, order_status</a:t>
            </a:r>
          </a:p>
          <a:p>
            <a:pPr>
              <a:spcAft>
                <a:spcPts val="900"/>
              </a:spcAft>
              <a:defRPr sz="1800"/>
            </a:pPr>
            <a:r>
              <a:t>Foreign keys enforce relationships and referential integrity.</a:t>
            </a:r>
          </a:p>
          <a:p>
            <a:pPr>
              <a:spcAft>
                <a:spcPts val="900"/>
              </a:spcAft>
              <a:defRPr sz="1800"/>
            </a:pPr>
            <a:r>
              <a:t>CRUD uses parameterised SQL.</a:t>
            </a:r>
          </a:p>
          <a:p>
            <a:pPr>
              <a:spcAft>
                <a:spcPts val="900"/>
              </a:spcAft>
              <a:defRPr sz="1800"/>
            </a:pPr>
            <a:r>
              <a:t>Order creation, cancellation and deletion use transactions.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7. Student Workflow</a:t>
            </a:r>
          </a:p>
        </p:txBody>
      </p:sp>
      <p:pic>
        <p:nvPicPr>
          <p:cNvPr id="3" name="Picture 2" descr="03_menu_and_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79"/>
            <a:ext cx="5212080" cy="2222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Login as student / student123.</a:t>
            </a:r>
          </a:p>
          <a:p>
            <a:pPr>
              <a:spcAft>
                <a:spcPts val="900"/>
              </a:spcAft>
              <a:defRPr sz="1800"/>
            </a:pPr>
            <a:r>
              <a:t>Browse menu and check stock.</a:t>
            </a:r>
          </a:p>
          <a:p>
            <a:pPr>
              <a:spcAft>
                <a:spcPts val="900"/>
              </a:spcAft>
              <a:defRPr sz="1800"/>
            </a:pPr>
            <a:r>
              <a:t>Place an order and confirm total.</a:t>
            </a:r>
          </a:p>
          <a:p>
            <a:pPr>
              <a:spcAft>
                <a:spcPts val="900"/>
              </a:spcAft>
              <a:defRPr sz="1800"/>
            </a:pPr>
            <a:r>
              <a:t>View order history.</a:t>
            </a:r>
          </a:p>
          <a:p>
            <a:pPr>
              <a:spcAft>
                <a:spcPts val="900"/>
              </a:spcAft>
              <a:defRPr sz="1800"/>
            </a:pPr>
            <a:r>
              <a:t>Cancel Pending/Confirmed order and demonstrate stock restoration.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8. Administrator Workflow</a:t>
            </a:r>
          </a:p>
        </p:txBody>
      </p:sp>
      <p:pic>
        <p:nvPicPr>
          <p:cNvPr id="3" name="Picture 2" descr="04_admin_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097280"/>
            <a:ext cx="5212080" cy="23454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Login as admin / admin123.</a:t>
            </a:r>
          </a:p>
          <a:p>
            <a:pPr>
              <a:spcAft>
                <a:spcPts val="900"/>
              </a:spcAft>
              <a:defRPr sz="1800"/>
            </a:pPr>
            <a:r>
              <a:t>Manage menu items and categories.</a:t>
            </a:r>
          </a:p>
          <a:p>
            <a:pPr>
              <a:spcAft>
                <a:spcPts val="900"/>
              </a:spcAft>
              <a:defRPr sz="1800"/>
            </a:pPr>
            <a:r>
              <a:t>View, update and delete orders.</a:t>
            </a:r>
          </a:p>
          <a:p>
            <a:pPr>
              <a:spcAft>
                <a:spcPts val="900"/>
              </a:spcAft>
              <a:defRPr sz="1800"/>
            </a:pPr>
            <a:r>
              <a:t>Generate reports, charts and exports.</a:t>
            </a:r>
          </a:p>
          <a:p>
            <a:pPr>
              <a:spcAft>
                <a:spcPts val="900"/>
              </a:spcAft>
              <a:defRPr sz="1800"/>
            </a:pPr>
            <a:r>
              <a:t>Demonstrate role-based access.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9. Reporting, Files and API</a:t>
            </a:r>
          </a:p>
        </p:txBody>
      </p:sp>
      <p:pic>
        <p:nvPicPr>
          <p:cNvPr id="3" name="Picture 2" descr="05_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79"/>
            <a:ext cx="5212080" cy="253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CSV/JSON import supports menu-data interoperability.</a:t>
            </a:r>
          </a:p>
          <a:p>
            <a:pPr>
              <a:spcAft>
                <a:spcPts val="900"/>
              </a:spcAft>
              <a:defRPr sz="1800"/>
            </a:pPr>
            <a:r>
              <a:t>TXT/CSV/JSON report exports are generated.</a:t>
            </a:r>
          </a:p>
          <a:p>
            <a:pPr>
              <a:spcAft>
                <a:spcPts val="900"/>
              </a:spcAft>
              <a:defRPr sz="1800"/>
            </a:pPr>
            <a:r>
              <a:t>pandas creates report DataFrames.</a:t>
            </a:r>
          </a:p>
          <a:p>
            <a:pPr>
              <a:spcAft>
                <a:spcPts val="900"/>
              </a:spcAft>
              <a:defRPr sz="1800"/>
            </a:pPr>
            <a:r>
              <a:t>matplotlib creates three report charts.</a:t>
            </a:r>
          </a:p>
          <a:p>
            <a:pPr>
              <a:spcAft>
                <a:spcPts val="900"/>
              </a:spcAft>
              <a:defRPr sz="1800"/>
            </a:pPr>
            <a:r>
              <a:t>requests fetches a daily quote with an offline fallback.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10. Testing</a:t>
            </a:r>
          </a:p>
        </p:txBody>
      </p:sp>
      <p:pic>
        <p:nvPicPr>
          <p:cNvPr id="3" name="Picture 2" descr="06_tes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97280"/>
            <a:ext cx="5212080" cy="195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234440"/>
            <a:ext cx="52120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160 automated tests passed with 0 failures.</a:t>
            </a:r>
          </a:p>
          <a:p>
            <a:pPr>
              <a:spcAft>
                <a:spcPts val="900"/>
              </a:spcAft>
              <a:defRPr sz="1800"/>
            </a:pPr>
            <a:r>
              <a:t>81% coverage across core models, repositories, services, utilities and exceptions.</a:t>
            </a:r>
          </a:p>
          <a:p>
            <a:pPr>
              <a:spcAft>
                <a:spcPts val="900"/>
              </a:spcAft>
              <a:defRPr sz="1800"/>
            </a:pPr>
            <a:r>
              <a:t>Negative-path tests cover invalid input, missing records, stock limits and invalid states.</a:t>
            </a:r>
          </a:p>
          <a:p>
            <a:pPr>
              <a:spcAft>
                <a:spcPts val="900"/>
              </a:spcAft>
              <a:defRPr sz="1800"/>
            </a:pPr>
            <a:r>
              <a:t>Manual end-to-end tests verify interactive workflows.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11. Professional and Ethical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Application-wide logging and custom exception hierarchy.</a:t>
            </a:r>
          </a:p>
          <a:p>
            <a:pPr>
              <a:spcAft>
                <a:spcPts val="900"/>
              </a:spcAft>
              <a:defRPr sz="1800"/>
            </a:pPr>
            <a:r>
              <a:t>Parameterised SQL and role-based permissions.</a:t>
            </a:r>
          </a:p>
          <a:p>
            <a:pPr>
              <a:spcAft>
                <a:spcPts val="900"/>
              </a:spcAft>
              <a:defRPr sz="1800"/>
            </a:pPr>
            <a:r>
              <a:t>Privacy and production password-hashing limitation documented.</a:t>
            </a:r>
          </a:p>
          <a:p>
            <a:pPr>
              <a:spcAft>
                <a:spcPts val="900"/>
              </a:spcAft>
              <a:defRPr sz="1800"/>
            </a:pPr>
            <a:r>
              <a:t>AI assistance disclosed transparently.</a:t>
            </a:r>
          </a:p>
          <a:p>
            <a:pPr>
              <a:spcAft>
                <a:spcPts val="900"/>
              </a:spcAft>
              <a:defRPr sz="1800"/>
            </a:pPr>
            <a:r>
              <a:t>UAT requires genuine tester sign-off before submission.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12. Fixes Completed During Final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Reconciled standalone schema.sql with the live application schema.</a:t>
            </a:r>
          </a:p>
          <a:p>
            <a:pPr>
              <a:spcAft>
                <a:spcPts val="900"/>
              </a:spcAft>
              <a:defRPr sz="1800"/>
            </a:pPr>
            <a:r>
              <a:t>Fixed runtime repository dependency wiring so cancellation restores stock.</a:t>
            </a:r>
          </a:p>
          <a:p>
            <a:pPr>
              <a:spcAft>
                <a:spcPts val="900"/>
              </a:spcAft>
              <a:defRPr sz="1800"/>
            </a:pPr>
            <a:r>
              <a:t>Corrected README/user-manual launch commands and paths.</a:t>
            </a:r>
          </a:p>
          <a:p>
            <a:pPr>
              <a:spcAft>
                <a:spcPts val="900"/>
              </a:spcAft>
              <a:defRPr sz="1800"/>
            </a:pPr>
            <a:r>
              <a:t>Added public-method docstrings and schema/validation regression tests.</a:t>
            </a:r>
          </a:p>
          <a:p>
            <a:pPr>
              <a:spcAft>
                <a:spcPts val="900"/>
              </a:spcAft>
              <a:defRPr sz="1800"/>
            </a:pPr>
            <a:r>
              <a:t>Added explicit order deletion for CRUD completeness.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13. Limitations and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Use Argon2/bcrypt for production password storage.</a:t>
            </a:r>
          </a:p>
          <a:p>
            <a:pPr>
              <a:spcAft>
                <a:spcPts val="900"/>
              </a:spcAft>
              <a:defRPr sz="1800"/>
            </a:pPr>
            <a:r>
              <a:t>Build a GUI/web presentation layer while preserving MVC services/models.</a:t>
            </a:r>
          </a:p>
          <a:p>
            <a:pPr>
              <a:spcAft>
                <a:spcPts val="900"/>
              </a:spcAft>
              <a:defRPr sz="1800"/>
            </a:pPr>
            <a:r>
              <a:t>Add online payment and notifications.</a:t>
            </a:r>
          </a:p>
          <a:p>
            <a:pPr>
              <a:spcAft>
                <a:spcPts val="900"/>
              </a:spcAft>
              <a:defRPr sz="1800"/>
            </a:pPr>
            <a:r>
              <a:t>Consider cloud database/deployment and richer analytics.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2860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/>
            </a:pPr>
            <a:r>
              <a:t>14. Conclusion and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/>
            </a:pPr>
            <a:r>
              <a:t>The system demonstrates delivery from requirements and design through implementation, database integration, testing, documentation and presentation.</a:t>
            </a:r>
          </a:p>
          <a:p>
            <a:pPr>
              <a:spcAft>
                <a:spcPts val="900"/>
              </a:spcAft>
              <a:defRPr sz="1800"/>
            </a:pPr>
            <a:r>
              <a:t>Core workflows are verified and the assessment package is prepared.</a:t>
            </a:r>
          </a:p>
          <a:p>
            <a:pPr>
              <a:spcAft>
                <a:spcPts val="900"/>
              </a:spcAft>
              <a:defRPr sz="18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lic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162000"/>
                <a:satMod val="200000"/>
                <a:lumMod val="124000"/>
              </a:schemeClr>
            </a:gs>
            <a:gs pos="100000">
              <a:schemeClr val="phClr">
                <a:shade val="96000"/>
                <a:hueMod val="88000"/>
                <a:satMod val="220000"/>
                <a:lumMod val="82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142000"/>
                <a:satMod val="200000"/>
                <a:lumMod val="118000"/>
              </a:schemeClr>
            </a:gs>
            <a:gs pos="100000">
              <a:schemeClr val="phClr">
                <a:shade val="92000"/>
                <a:hueMod val="22000"/>
                <a:satMod val="220000"/>
                <a:lumMod val="62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282EB108-EDE6-4B8E-957B-D4A69BF580E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139</TotalTime>
  <Words>638</Words>
  <Application>Microsoft Office PowerPoint</Application>
  <PresentationFormat>Widescreen</PresentationFormat>
  <Paragraphs>79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Century Gothic</vt:lpstr>
      <vt:lpstr>Wingdings 3</vt:lpstr>
      <vt:lpstr>Slice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Gunther, Darius</cp:lastModifiedBy>
  <cp:revision>1</cp:revision>
  <dcterms:created xsi:type="dcterms:W3CDTF">2013-01-27T09:14:16Z</dcterms:created>
  <dcterms:modified xsi:type="dcterms:W3CDTF">2026-09-24T01:12:05Z</dcterms:modified>
  <cp:category/>
</cp:coreProperties>
</file>