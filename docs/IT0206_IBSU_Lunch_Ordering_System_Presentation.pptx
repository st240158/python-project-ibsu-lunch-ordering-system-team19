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ther Darius" userId="8d2b46eae991de6c" providerId="LiveId" clId="{A6C91EE9-2DD3-49A5-8165-D560F60A6B62}"/>
    <pc:docChg chg="custSel modSld">
      <pc:chgData name="Gunther Darius" userId="8d2b46eae991de6c" providerId="LiveId" clId="{A6C91EE9-2DD3-49A5-8165-D560F60A6B62}" dt="2026-09-23T02:47:13.160" v="31" actId="14100"/>
      <pc:docMkLst>
        <pc:docMk/>
      </pc:docMkLst>
      <pc:sldChg chg="modSp mod">
        <pc:chgData name="Gunther Darius" userId="8d2b46eae991de6c" providerId="LiveId" clId="{A6C91EE9-2DD3-49A5-8165-D560F60A6B62}" dt="2026-09-23T02:41:47.103" v="21" actId="20577"/>
        <pc:sldMkLst>
          <pc:docMk/>
          <pc:sldMk cId="0" sldId="256"/>
        </pc:sldMkLst>
        <pc:spChg chg="mod">
          <ac:chgData name="Gunther Darius" userId="8d2b46eae991de6c" providerId="LiveId" clId="{A6C91EE9-2DD3-49A5-8165-D560F60A6B62}" dt="2026-09-23T02:41:47.103" v="21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Gunther Darius" userId="8d2b46eae991de6c" providerId="LiveId" clId="{A6C91EE9-2DD3-49A5-8165-D560F60A6B62}" dt="2026-09-23T02:45:38.162" v="25" actId="14100"/>
        <pc:sldMkLst>
          <pc:docMk/>
          <pc:sldMk cId="0" sldId="260"/>
        </pc:sldMkLst>
        <pc:picChg chg="mod">
          <ac:chgData name="Gunther Darius" userId="8d2b46eae991de6c" providerId="LiveId" clId="{A6C91EE9-2DD3-49A5-8165-D560F60A6B62}" dt="2026-09-23T02:45:38.162" v="25" actId="14100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5:51.814" v="26" actId="14100"/>
        <pc:sldMkLst>
          <pc:docMk/>
          <pc:sldMk cId="0" sldId="261"/>
        </pc:sldMkLst>
        <pc:picChg chg="mod">
          <ac:chgData name="Gunther Darius" userId="8d2b46eae991de6c" providerId="LiveId" clId="{A6C91EE9-2DD3-49A5-8165-D560F60A6B62}" dt="2026-09-23T02:45:51.814" v="26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6:22.100" v="27" actId="14100"/>
        <pc:sldMkLst>
          <pc:docMk/>
          <pc:sldMk cId="0" sldId="262"/>
        </pc:sldMkLst>
        <pc:picChg chg="mod">
          <ac:chgData name="Gunther Darius" userId="8d2b46eae991de6c" providerId="LiveId" clId="{A6C91EE9-2DD3-49A5-8165-D560F60A6B62}" dt="2026-09-23T02:46:22.100" v="27" actId="14100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6:53.475" v="28" actId="14100"/>
        <pc:sldMkLst>
          <pc:docMk/>
          <pc:sldMk cId="0" sldId="263"/>
        </pc:sldMkLst>
        <pc:picChg chg="mod">
          <ac:chgData name="Gunther Darius" userId="8d2b46eae991de6c" providerId="LiveId" clId="{A6C91EE9-2DD3-49A5-8165-D560F60A6B62}" dt="2026-09-23T02:46:53.475" v="28" actId="14100"/>
          <ac:picMkLst>
            <pc:docMk/>
            <pc:sldMk cId="0" sldId="263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6:59.228" v="29" actId="1076"/>
        <pc:sldMkLst>
          <pc:docMk/>
          <pc:sldMk cId="0" sldId="264"/>
        </pc:sldMkLst>
        <pc:picChg chg="mod">
          <ac:chgData name="Gunther Darius" userId="8d2b46eae991de6c" providerId="LiveId" clId="{A6C91EE9-2DD3-49A5-8165-D560F60A6B62}" dt="2026-09-23T02:46:59.228" v="29" actId="1076"/>
          <ac:picMkLst>
            <pc:docMk/>
            <pc:sldMk cId="0" sldId="264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7:07.951" v="30" actId="14100"/>
        <pc:sldMkLst>
          <pc:docMk/>
          <pc:sldMk cId="0" sldId="265"/>
        </pc:sldMkLst>
        <pc:picChg chg="mod">
          <ac:chgData name="Gunther Darius" userId="8d2b46eae991de6c" providerId="LiveId" clId="{A6C91EE9-2DD3-49A5-8165-D560F60A6B62}" dt="2026-09-23T02:47:07.951" v="30" actId="14100"/>
          <ac:picMkLst>
            <pc:docMk/>
            <pc:sldMk cId="0" sldId="265"/>
            <ac:picMk id="3" creationId="{00000000-0000-0000-0000-000000000000}"/>
          </ac:picMkLst>
        </pc:picChg>
      </pc:sldChg>
      <pc:sldChg chg="modSp mod">
        <pc:chgData name="Gunther Darius" userId="8d2b46eae991de6c" providerId="LiveId" clId="{A6C91EE9-2DD3-49A5-8165-D560F60A6B62}" dt="2026-09-23T02:47:13.160" v="31" actId="14100"/>
        <pc:sldMkLst>
          <pc:docMk/>
          <pc:sldMk cId="0" sldId="266"/>
        </pc:sldMkLst>
        <pc:picChg chg="mod">
          <ac:chgData name="Gunther Darius" userId="8d2b46eae991de6c" providerId="LiveId" clId="{A6C91EE9-2DD3-49A5-8165-D560F60A6B62}" dt="2026-09-23T02:47:13.160" v="31" actId="14100"/>
          <ac:picMkLst>
            <pc:docMk/>
            <pc:sldMk cId="0" sldId="266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45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0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9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4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9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4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4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7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54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55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3938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6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4618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06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83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10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4501" y="1280160"/>
            <a:ext cx="6023957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/>
            </a:pPr>
            <a:r>
              <a:rPr dirty="0"/>
              <a:t>IBSU LUNCH ORDERING SYSTEM</a:t>
            </a:r>
          </a:p>
          <a:p>
            <a:pPr algn="ctr">
              <a:defRPr sz="1800"/>
            </a:pPr>
            <a:r>
              <a:rPr dirty="0"/>
              <a:t>IT0206 Advanced Computer Programming 2</a:t>
            </a:r>
            <a:r>
              <a:rPr lang="en-US" dirty="0"/>
              <a:t>C</a:t>
            </a:r>
            <a:r>
              <a:rPr dirty="0"/>
              <a:t> • Assessment 2</a:t>
            </a:r>
            <a:r>
              <a:rPr lang="en-US" dirty="0"/>
              <a:t>C</a:t>
            </a:r>
          </a:p>
          <a:p>
            <a:pPr algn="ctr">
              <a:defRPr sz="1800"/>
            </a:pPr>
            <a:r>
              <a:rPr lang="en-US" dirty="0"/>
              <a:t>Team Members</a:t>
            </a:r>
          </a:p>
          <a:p>
            <a:pPr algn="ctr">
              <a:defRPr sz="1800"/>
            </a:pPr>
            <a:r>
              <a:rPr lang="en-US" dirty="0"/>
              <a:t>Johannesh Pesh -- ST240723</a:t>
            </a:r>
            <a:endParaRPr dirty="0"/>
          </a:p>
          <a:p>
            <a:pPr algn="ctr">
              <a:defRPr sz="1500"/>
            </a:pPr>
            <a:r>
              <a:rPr dirty="0"/>
              <a:t>Gunther Darius — ST240158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Problem, Aim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Problem: manual cafeteria ordering can make menu, stock and order tracking inefficient.</a:t>
            </a:r>
          </a:p>
          <a:p>
            <a:pPr>
              <a:spcAft>
                <a:spcPts val="900"/>
              </a:spcAft>
              <a:defRPr sz="1800"/>
            </a:pPr>
            <a:r>
              <a:t>Aim: deliver a persistent, role-based Python lunch-ordering application.</a:t>
            </a:r>
          </a:p>
          <a:p>
            <a:pPr>
              <a:spcAft>
                <a:spcPts val="900"/>
              </a:spcAft>
              <a:defRPr sz="1800"/>
            </a:pPr>
            <a:r>
              <a:t>Objectives: authentication, roles, CRUD, transactional ordering, search, reporting, file handling, logging and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Requirements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Menu-driven console application with authenticated role-based access.</a:t>
            </a:r>
          </a:p>
          <a:p>
            <a:pPr>
              <a:spcAft>
                <a:spcPts val="900"/>
              </a:spcAft>
              <a:defRPr sz="1800"/>
            </a:pPr>
            <a:r>
              <a:t>SQLite persistence with six related tables.</a:t>
            </a:r>
          </a:p>
          <a:p>
            <a:pPr>
              <a:spcAft>
                <a:spcPts val="900"/>
              </a:spcAft>
              <a:defRPr sz="1800"/>
            </a:pPr>
            <a:r>
              <a:t>Core workflow: menu management → order → status → reporting.</a:t>
            </a:r>
          </a:p>
          <a:p>
            <a:pPr>
              <a:spcAft>
                <a:spcPts val="900"/>
              </a:spcAft>
              <a:defRPr sz="1800"/>
            </a:pPr>
            <a:r>
              <a:t>Out of scope: online payments, mobile app and cloud production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Python 3.11+ • SQLite • pytest • pytest-cov</a:t>
            </a:r>
          </a:p>
          <a:p>
            <a:pPr>
              <a:spcAft>
                <a:spcPts val="900"/>
              </a:spcAft>
              <a:defRPr sz="1800"/>
            </a:pPr>
            <a:r>
              <a:t>pandas for data processing and reporting</a:t>
            </a:r>
          </a:p>
          <a:p>
            <a:pPr>
              <a:spcAft>
                <a:spcPts val="900"/>
              </a:spcAft>
              <a:defRPr sz="1800"/>
            </a:pPr>
            <a:r>
              <a:t>matplotlib for user-facing visualisation</a:t>
            </a:r>
          </a:p>
          <a:p>
            <a:pPr>
              <a:spcAft>
                <a:spcPts val="900"/>
              </a:spcAft>
              <a:defRPr sz="1800"/>
            </a:pPr>
            <a:r>
              <a:t>requests for a genuine external HTTP interaction</a:t>
            </a:r>
          </a:p>
          <a:p>
            <a:pPr>
              <a:spcAft>
                <a:spcPts val="900"/>
              </a:spcAft>
              <a:defRPr sz="1800"/>
            </a:pPr>
            <a:r>
              <a:t>tabulate for console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MVC Architecture</a:t>
            </a:r>
          </a:p>
        </p:txBody>
      </p:sp>
      <p:pic>
        <p:nvPicPr>
          <p:cNvPr id="3" name="Picture 2" descr="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25287"/>
            <a:ext cx="5212080" cy="2155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View → Controller → Service/Model → Repository → SQLite</a:t>
            </a:r>
          </a:p>
          <a:p>
            <a:pPr>
              <a:spcAft>
                <a:spcPts val="900"/>
              </a:spcAft>
              <a:defRPr sz="1800"/>
            </a:pPr>
            <a:r>
              <a:t>Views handle console I/O; controllers validate and orchestrate.</a:t>
            </a:r>
          </a:p>
          <a:p>
            <a:pPr>
              <a:spcAft>
                <a:spcPts val="900"/>
              </a:spcAft>
              <a:defRPr sz="1800"/>
            </a:pPr>
            <a:r>
              <a:t>Services handle authentication, files and reports.</a:t>
            </a:r>
          </a:p>
          <a:p>
            <a:pPr>
              <a:spcAft>
                <a:spcPts val="900"/>
              </a:spcAft>
              <a:defRPr sz="1800"/>
            </a:pPr>
            <a:r>
              <a:t>Repositories isolate SQL and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Object-Oriented Design</a:t>
            </a:r>
          </a:p>
        </p:txBody>
      </p:sp>
      <p:pic>
        <p:nvPicPr>
          <p:cNvPr id="3" name="Picture 2" descr="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36171"/>
            <a:ext cx="5212080" cy="24652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42 classes across models, repositories, services, controllers, views and exceptions.</a:t>
            </a:r>
          </a:p>
          <a:p>
            <a:pPr>
              <a:spcAft>
                <a:spcPts val="900"/>
              </a:spcAft>
              <a:defRPr sz="1800"/>
            </a:pPr>
            <a:r>
              <a:t>User is an abstract base class; Student and Administrator inherit from it.</a:t>
            </a:r>
          </a:p>
          <a:p>
            <a:pPr>
              <a:spcAft>
                <a:spcPts val="900"/>
              </a:spcAft>
              <a:defRPr sz="1800"/>
            </a:pPr>
            <a:r>
              <a:t>Polymorphism and overriding provide role-specific permissions.</a:t>
            </a:r>
          </a:p>
          <a:p>
            <a:pPr>
              <a:spcAft>
                <a:spcPts val="900"/>
              </a:spcAft>
              <a:defRPr sz="1800"/>
            </a:pPr>
            <a:r>
              <a:t>Order composes OrderItem objects; properties and dunder methods are demonstrated.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Database Design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212080" cy="2723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users, category, food_items, orders, order_items, order_status</a:t>
            </a:r>
          </a:p>
          <a:p>
            <a:pPr>
              <a:spcAft>
                <a:spcPts val="900"/>
              </a:spcAft>
              <a:defRPr sz="1800"/>
            </a:pPr>
            <a:r>
              <a:t>Foreign keys enforce relationships and referential integrity.</a:t>
            </a:r>
          </a:p>
          <a:p>
            <a:pPr>
              <a:spcAft>
                <a:spcPts val="900"/>
              </a:spcAft>
              <a:defRPr sz="1800"/>
            </a:pPr>
            <a:r>
              <a:t>CRUD uses parameterised SQL.</a:t>
            </a:r>
          </a:p>
          <a:p>
            <a:pPr>
              <a:spcAft>
                <a:spcPts val="900"/>
              </a:spcAft>
              <a:defRPr sz="1800"/>
            </a:pPr>
            <a:r>
              <a:t>Order creation, cancellation and deletion use 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Student Workflow</a:t>
            </a:r>
          </a:p>
        </p:txBody>
      </p:sp>
      <p:pic>
        <p:nvPicPr>
          <p:cNvPr id="3" name="Picture 2" descr="03_menu_and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79"/>
            <a:ext cx="5212080" cy="2222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Login as student / student123.</a:t>
            </a:r>
          </a:p>
          <a:p>
            <a:pPr>
              <a:spcAft>
                <a:spcPts val="900"/>
              </a:spcAft>
              <a:defRPr sz="1800"/>
            </a:pPr>
            <a:r>
              <a:t>Browse menu and check stock.</a:t>
            </a:r>
          </a:p>
          <a:p>
            <a:pPr>
              <a:spcAft>
                <a:spcPts val="900"/>
              </a:spcAft>
              <a:defRPr sz="1800"/>
            </a:pPr>
            <a:r>
              <a:t>Place an order and confirm total.</a:t>
            </a:r>
          </a:p>
          <a:p>
            <a:pPr>
              <a:spcAft>
                <a:spcPts val="900"/>
              </a:spcAft>
              <a:defRPr sz="1800"/>
            </a:pPr>
            <a:r>
              <a:t>View order history.</a:t>
            </a:r>
          </a:p>
          <a:p>
            <a:pPr>
              <a:spcAft>
                <a:spcPts val="900"/>
              </a:spcAft>
              <a:defRPr sz="1800"/>
            </a:pPr>
            <a:r>
              <a:t>Cancel Pending/Confirmed order and demonstrate stock restoration.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Administrator Workflow</a:t>
            </a:r>
          </a:p>
        </p:txBody>
      </p:sp>
      <p:pic>
        <p:nvPicPr>
          <p:cNvPr id="3" name="Picture 2" descr="04_admin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97280"/>
            <a:ext cx="5212080" cy="2345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Login as admin / admin123.</a:t>
            </a:r>
          </a:p>
          <a:p>
            <a:pPr>
              <a:spcAft>
                <a:spcPts val="900"/>
              </a:spcAft>
              <a:defRPr sz="1800"/>
            </a:pPr>
            <a:r>
              <a:t>Manage menu items and categories.</a:t>
            </a:r>
          </a:p>
          <a:p>
            <a:pPr>
              <a:spcAft>
                <a:spcPts val="900"/>
              </a:spcAft>
              <a:defRPr sz="1800"/>
            </a:pPr>
            <a:r>
              <a:t>View, update and delete orders.</a:t>
            </a:r>
          </a:p>
          <a:p>
            <a:pPr>
              <a:spcAft>
                <a:spcPts val="900"/>
              </a:spcAft>
              <a:defRPr sz="1800"/>
            </a:pPr>
            <a:r>
              <a:t>Generate reports, charts and exports.</a:t>
            </a:r>
          </a:p>
          <a:p>
            <a:pPr>
              <a:spcAft>
                <a:spcPts val="900"/>
              </a:spcAft>
              <a:defRPr sz="1800"/>
            </a:pPr>
            <a:r>
              <a:t>Demonstrate role-based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Reporting, Files and API</a:t>
            </a:r>
          </a:p>
        </p:txBody>
      </p:sp>
      <p:pic>
        <p:nvPicPr>
          <p:cNvPr id="3" name="Picture 2" descr="05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212080" cy="2331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CSV/JSON import supports menu-data interoperability.</a:t>
            </a:r>
          </a:p>
          <a:p>
            <a:pPr>
              <a:spcAft>
                <a:spcPts val="900"/>
              </a:spcAft>
              <a:defRPr sz="1800"/>
            </a:pPr>
            <a:r>
              <a:t>TXT/CSV/JSON report exports are generated.</a:t>
            </a:r>
          </a:p>
          <a:p>
            <a:pPr>
              <a:spcAft>
                <a:spcPts val="900"/>
              </a:spcAft>
              <a:defRPr sz="1800"/>
            </a:pPr>
            <a:r>
              <a:t>pandas creates report DataFrames.</a:t>
            </a:r>
          </a:p>
          <a:p>
            <a:pPr>
              <a:spcAft>
                <a:spcPts val="900"/>
              </a:spcAft>
              <a:defRPr sz="1800"/>
            </a:pPr>
            <a:r>
              <a:t>matplotlib creates three report charts.</a:t>
            </a:r>
          </a:p>
          <a:p>
            <a:pPr>
              <a:spcAft>
                <a:spcPts val="900"/>
              </a:spcAft>
              <a:defRPr sz="1800"/>
            </a:pPr>
            <a:r>
              <a:t>requests fetches a daily quote with an offline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Testing</a:t>
            </a:r>
          </a:p>
        </p:txBody>
      </p:sp>
      <p:pic>
        <p:nvPicPr>
          <p:cNvPr id="3" name="Picture 2" descr="06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212080" cy="195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160 automated tests passed with 0 failures.</a:t>
            </a:r>
          </a:p>
          <a:p>
            <a:pPr>
              <a:spcAft>
                <a:spcPts val="900"/>
              </a:spcAft>
              <a:defRPr sz="1800"/>
            </a:pPr>
            <a:r>
              <a:t>81% coverage across core models, repositories, services, utilities and exceptions.</a:t>
            </a:r>
          </a:p>
          <a:p>
            <a:pPr>
              <a:spcAft>
                <a:spcPts val="900"/>
              </a:spcAft>
              <a:defRPr sz="1800"/>
            </a:pPr>
            <a:r>
              <a:t>Negative-path tests cover invalid input, missing records, stock limits and invalid states.</a:t>
            </a:r>
          </a:p>
          <a:p>
            <a:pPr>
              <a:spcAft>
                <a:spcPts val="900"/>
              </a:spcAft>
              <a:defRPr sz="1800"/>
            </a:pPr>
            <a:r>
              <a:t>Manual end-to-end tests verify interactive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11. Professional and Ethical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Application-wide logging and custom exception hierarchy.</a:t>
            </a:r>
          </a:p>
          <a:p>
            <a:pPr>
              <a:spcAft>
                <a:spcPts val="900"/>
              </a:spcAft>
              <a:defRPr sz="1800"/>
            </a:pPr>
            <a:r>
              <a:t>Parameterised SQL and role-based permissions.</a:t>
            </a:r>
          </a:p>
          <a:p>
            <a:pPr>
              <a:spcAft>
                <a:spcPts val="900"/>
              </a:spcAft>
              <a:defRPr sz="1800"/>
            </a:pPr>
            <a:r>
              <a:t>Privacy and production password-hashing limitation documented.</a:t>
            </a:r>
          </a:p>
          <a:p>
            <a:pPr>
              <a:spcAft>
                <a:spcPts val="900"/>
              </a:spcAft>
              <a:defRPr sz="1800"/>
            </a:pPr>
            <a:r>
              <a:t>AI assistance disclosed transparently.</a:t>
            </a:r>
          </a:p>
          <a:p>
            <a:pPr>
              <a:spcAft>
                <a:spcPts val="900"/>
              </a:spcAft>
              <a:defRPr sz="1800"/>
            </a:pPr>
            <a:r>
              <a:t>UAT requires genuine tester sign-off before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12. Fixes Completed During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Reconciled standalone schema.sql with the live application schema.</a:t>
            </a:r>
          </a:p>
          <a:p>
            <a:pPr>
              <a:spcAft>
                <a:spcPts val="900"/>
              </a:spcAft>
              <a:defRPr sz="1800"/>
            </a:pPr>
            <a:r>
              <a:t>Fixed runtime repository dependency wiring so cancellation restores stock.</a:t>
            </a:r>
          </a:p>
          <a:p>
            <a:pPr>
              <a:spcAft>
                <a:spcPts val="900"/>
              </a:spcAft>
              <a:defRPr sz="1800"/>
            </a:pPr>
            <a:r>
              <a:t>Corrected README/user-manual launch commands and paths.</a:t>
            </a:r>
          </a:p>
          <a:p>
            <a:pPr>
              <a:spcAft>
                <a:spcPts val="900"/>
              </a:spcAft>
              <a:defRPr sz="1800"/>
            </a:pPr>
            <a:r>
              <a:t>Added public-method docstrings and schema/validation regression tests.</a:t>
            </a:r>
          </a:p>
          <a:p>
            <a:pPr>
              <a:spcAft>
                <a:spcPts val="900"/>
              </a:spcAft>
              <a:defRPr sz="1800"/>
            </a:pPr>
            <a:r>
              <a:t>Added explicit order deletion for CRUD completeness.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13. 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 Argon2/bcrypt for production password storage.</a:t>
            </a:r>
          </a:p>
          <a:p>
            <a:pPr>
              <a:spcAft>
                <a:spcPts val="900"/>
              </a:spcAft>
              <a:defRPr sz="1800"/>
            </a:pPr>
            <a:r>
              <a:t>Build a GUI/web presentation layer while preserving MVC services/models.</a:t>
            </a:r>
          </a:p>
          <a:p>
            <a:pPr>
              <a:spcAft>
                <a:spcPts val="900"/>
              </a:spcAft>
              <a:defRPr sz="1800"/>
            </a:pPr>
            <a:r>
              <a:t>Add online payment and notifications.</a:t>
            </a:r>
          </a:p>
          <a:p>
            <a:pPr>
              <a:spcAft>
                <a:spcPts val="900"/>
              </a:spcAft>
              <a:defRPr sz="1800"/>
            </a:pPr>
            <a:r>
              <a:t>Consider cloud database/deployment and richer analytics.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14. Conclusion and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The system demonstrates delivery from requirements and design through implementation, database integration, testing, documentation and presentation.</a:t>
            </a:r>
          </a:p>
          <a:p>
            <a:pPr>
              <a:spcAft>
                <a:spcPts val="900"/>
              </a:spcAft>
              <a:defRPr sz="1800"/>
            </a:pPr>
            <a:r>
              <a:t>Core workflows are verified and the assessment package is prepared.</a:t>
            </a:r>
          </a:p>
          <a:p>
            <a:pPr>
              <a:spcAft>
                <a:spcPts val="900"/>
              </a:spcAft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</TotalTime>
  <Words>638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Gunther, Darius</cp:lastModifiedBy>
  <cp:revision>1</cp:revision>
  <dcterms:created xsi:type="dcterms:W3CDTF">2013-01-27T09:14:16Z</dcterms:created>
  <dcterms:modified xsi:type="dcterms:W3CDTF">2026-09-23T02:47:44Z</dcterms:modified>
  <cp:category/>
</cp:coreProperties>
</file>